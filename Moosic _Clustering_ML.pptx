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13D1FC-91C9-4D58-870E-A9C7D062C1AE}">
  <a:tblStyle styleId="{9C13D1FC-91C9-4D58-870E-A9C7D062C1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e1ae3097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e1ae3097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1ae30978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1ae30978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e1ae3097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e1ae3097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1ae30978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e1ae30978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1ae3097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1ae30978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e1ae3097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e1ae3097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e1ae309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e1ae309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1ae3097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e1ae3097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e1ae30978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e1ae30978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1ae3097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e1ae3097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highlight>
                  <a:srgbClr val="FF0000"/>
                </a:highlight>
              </a:rPr>
              <a:t>Prototype for Automated Playlist Generation</a:t>
            </a:r>
            <a:endParaRPr b="1"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FF0000"/>
                </a:highlight>
              </a:rPr>
              <a:t>for MOOSIC</a:t>
            </a:r>
            <a:endParaRPr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0400" y="4164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Developed and p</a:t>
            </a:r>
            <a:r>
              <a:rPr lang="en">
                <a:solidFill>
                  <a:srgbClr val="000000"/>
                </a:solidFill>
              </a:rPr>
              <a:t>resented by: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Kwabena Agyei</a:t>
            </a:r>
            <a:r>
              <a:rPr lang="en">
                <a:solidFill>
                  <a:srgbClr val="000000"/>
                </a:solidFill>
              </a:rPr>
              <a:t>                                               </a:t>
            </a:r>
            <a:r>
              <a:rPr lang="en"/>
              <a:t>Benno Klan</a:t>
            </a:r>
            <a:r>
              <a:rPr lang="en">
                <a:solidFill>
                  <a:srgbClr val="000000"/>
                </a:solidFill>
              </a:rPr>
              <a:t>                                         </a:t>
            </a:r>
            <a:r>
              <a:rPr lang="en">
                <a:solidFill>
                  <a:schemeClr val="dk1"/>
                </a:solidFill>
              </a:rPr>
              <a:t>Oleksandra Tkachenko</a:t>
            </a:r>
            <a:endParaRPr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 b="1">
                <a:solidFill>
                  <a:srgbClr val="FF0000"/>
                </a:solidFill>
              </a:rPr>
              <a:t>Challenge We Faced &amp; Goal We Pursue</a:t>
            </a:r>
            <a:endParaRPr sz="2520" b="1">
              <a:solidFill>
                <a:srgbClr val="FF0000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Manual playlists curation does not scale due to: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requires expert time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hard to maintain consistency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difficult to scale to thousands of songs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Our Goal: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Determine if </a:t>
            </a: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machine learning can automatically group similar songs into playlists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How We Built the Prototype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Collect Data: Dataset of 5000 Spotify songs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Select the Most Relevant Features ('danceability', 'energy', 'loudness', 'speechiness', 'acousticness', 'instrumentalness', 'liveness', 'valence', 'tempo')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Prepare the Data for Comparison (scale data)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Group Similar Songs (using machine learning method </a:t>
            </a:r>
            <a:r>
              <a:rPr lang="en" b="1" dirty="0">
                <a:solidFill>
                  <a:srgbClr val="FF0000"/>
                </a:solidFill>
              </a:rPr>
              <a:t>K-Means</a:t>
            </a:r>
            <a:r>
              <a:rPr lang="en" dirty="0">
                <a:solidFill>
                  <a:schemeClr val="dk1"/>
                </a:solidFill>
              </a:rPr>
              <a:t>) 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Create Playlists from the Groups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383600" y="1489113"/>
            <a:ext cx="376800" cy="428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383600" y="2536975"/>
            <a:ext cx="376800" cy="428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383600" y="3374175"/>
            <a:ext cx="376800" cy="428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383600" y="4211375"/>
            <a:ext cx="376800" cy="428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solidFill>
                  <a:srgbClr val="FF0000"/>
                </a:solidFill>
              </a:rPr>
              <a:t>Building the playlist prototype based on our algorithms</a:t>
            </a:r>
            <a:endParaRPr sz="2420" b="1">
              <a:solidFill>
                <a:srgbClr val="FF0000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l="5109" t="3139" r="1319" b="3149"/>
          <a:stretch/>
        </p:blipFill>
        <p:spPr>
          <a:xfrm>
            <a:off x="88575" y="1259495"/>
            <a:ext cx="4420900" cy="28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r="3883"/>
          <a:stretch/>
        </p:blipFill>
        <p:spPr>
          <a:xfrm>
            <a:off x="4723100" y="1247770"/>
            <a:ext cx="4420900" cy="29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534810" y="4171875"/>
            <a:ext cx="3814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Conversion of 13 features into 4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860360" y="4171875"/>
            <a:ext cx="4176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Mathematical scan identifies 9 musical profiles</a:t>
            </a:r>
            <a:endParaRPr sz="17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3506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Refining our music model: 9 vs 50 playlists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71875" y="4286228"/>
            <a:ext cx="7872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While our model yields massive playlists, refining it enables curated playlists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1187575"/>
            <a:ext cx="26376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Playlist ID</a:t>
            </a:r>
            <a:r>
              <a:rPr lang="en"/>
              <a:t>	</a:t>
            </a:r>
            <a:r>
              <a:rPr lang="en" b="1"/>
              <a:t>Number of songs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	378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		650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		536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		603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		304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		349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		596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		901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r>
              <a:rPr lang="en" u="sng"/>
              <a:t>		</a:t>
            </a:r>
            <a:r>
              <a:rPr lang="en"/>
              <a:t>918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AVG		582</a:t>
            </a:r>
            <a:endParaRPr b="1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575" y="2304350"/>
            <a:ext cx="1947425" cy="4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5056975" y="1187575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Playlist ID	Number of songs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	93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		89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		159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		98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		124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		116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		114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		82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		121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AVG		105</a:t>
            </a:r>
            <a:endParaRPr b="1"/>
          </a:p>
        </p:txBody>
      </p:sp>
      <p:cxnSp>
        <p:nvCxnSpPr>
          <p:cNvPr id="91" name="Google Shape;91;p17"/>
          <p:cNvCxnSpPr/>
          <p:nvPr/>
        </p:nvCxnSpPr>
        <p:spPr>
          <a:xfrm>
            <a:off x="408975" y="3397550"/>
            <a:ext cx="1234800" cy="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7"/>
          <p:cNvCxnSpPr/>
          <p:nvPr/>
        </p:nvCxnSpPr>
        <p:spPr>
          <a:xfrm rot="10800000" flipH="1">
            <a:off x="408975" y="1462825"/>
            <a:ext cx="23988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7"/>
          <p:cNvCxnSpPr/>
          <p:nvPr/>
        </p:nvCxnSpPr>
        <p:spPr>
          <a:xfrm>
            <a:off x="5143486" y="1473690"/>
            <a:ext cx="2312100" cy="2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7"/>
          <p:cNvCxnSpPr/>
          <p:nvPr/>
        </p:nvCxnSpPr>
        <p:spPr>
          <a:xfrm>
            <a:off x="5162191" y="3397550"/>
            <a:ext cx="1234800" cy="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FF0000"/>
                </a:solidFill>
                <a:highlight>
                  <a:srgbClr val="FFFFFF"/>
                </a:highlight>
              </a:rPr>
              <a:t>Are Spotify’s audio features capable of identifying “similar songs” as defined by humanly detectable criteria?</a:t>
            </a:r>
            <a:endParaRPr sz="2500" b="1">
              <a:solidFill>
                <a:srgbClr val="FF0000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21225" y="1758725"/>
            <a:ext cx="7567500" cy="30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Partially yes</a:t>
            </a:r>
            <a:r>
              <a:rPr lang="en" sz="1600">
                <a:solidFill>
                  <a:schemeClr val="dk1"/>
                </a:solidFill>
              </a:rPr>
              <a:t> – songs that cluster together in features like </a:t>
            </a:r>
            <a:r>
              <a:rPr lang="en" sz="1600" i="1">
                <a:solidFill>
                  <a:schemeClr val="dk1"/>
                </a:solidFill>
              </a:rPr>
              <a:t>danceability, energy, valence, tempo, acousticness</a:t>
            </a:r>
            <a:r>
              <a:rPr lang="en" sz="1600">
                <a:solidFill>
                  <a:schemeClr val="dk1"/>
                </a:solidFill>
              </a:rPr>
              <a:t> often sound similar in mood or vibe.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Example</a:t>
            </a:r>
            <a:r>
              <a:rPr lang="en" sz="1600">
                <a:solidFill>
                  <a:schemeClr val="dk1"/>
                </a:solidFill>
              </a:rPr>
              <a:t>: A cluster of songs with low danceability and energy tend to be slower, calmer tracks.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Caveat</a:t>
            </a:r>
            <a:r>
              <a:rPr lang="en" sz="1600">
                <a:solidFill>
                  <a:schemeClr val="dk1"/>
                </a:solidFill>
              </a:rPr>
              <a:t>: There are outliers – two songs can have almost identical features but feel very different to human listeners.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Technical note</a:t>
            </a:r>
            <a:r>
              <a:rPr lang="en" sz="1600">
                <a:solidFill>
                  <a:schemeClr val="dk1"/>
                </a:solidFill>
              </a:rPr>
              <a:t>: Scaling these features (all Features between 0–1) ensures each feature contributes equally to similarity calculations.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Is K-Means a good method for creating playlists?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90" b="1">
                <a:solidFill>
                  <a:schemeClr val="dk1"/>
                </a:solidFill>
              </a:rPr>
              <a:t>Pros (Advantages):</a:t>
            </a:r>
            <a:endParaRPr sz="1790" b="1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automatic playlist creation</a:t>
            </a:r>
            <a:endParaRPr sz="1790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helps identify unusual songs </a:t>
            </a:r>
            <a:endParaRPr sz="1790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organizes large music collections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9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90" b="1">
                <a:solidFill>
                  <a:schemeClr val="dk1"/>
                </a:solidFill>
              </a:rPr>
              <a:t>Cons (Disadvantages):</a:t>
            </a:r>
            <a:endParaRPr sz="1790" b="1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choosing the number of playlists (</a:t>
            </a:r>
            <a:r>
              <a:rPr lang="en" sz="1790" i="1">
                <a:solidFill>
                  <a:schemeClr val="dk1"/>
                </a:solidFill>
              </a:rPr>
              <a:t>methods like the elbow or silhouette score can help</a:t>
            </a:r>
            <a:r>
              <a:rPr lang="en" sz="1790">
                <a:solidFill>
                  <a:schemeClr val="dk1"/>
                </a:solidFill>
              </a:rPr>
              <a:t>)</a:t>
            </a:r>
            <a:endParaRPr sz="1790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results may vary slightly</a:t>
            </a:r>
            <a:endParaRPr sz="1790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music is more complex than the model assumes</a:t>
            </a:r>
            <a:endParaRPr sz="1790">
              <a:solidFill>
                <a:schemeClr val="dk1"/>
              </a:solidFill>
            </a:endParaRPr>
          </a:p>
          <a:p>
            <a:pPr marL="457200" lvl="0" indent="-3422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" sz="1790">
                <a:solidFill>
                  <a:schemeClr val="dk1"/>
                </a:solidFill>
              </a:rPr>
              <a:t>sensitive to unusual songs</a:t>
            </a:r>
            <a:endParaRPr sz="16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Conclusion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Machine learning</a:t>
            </a:r>
            <a:r>
              <a:rPr lang="en" sz="2000">
                <a:solidFill>
                  <a:schemeClr val="dk1"/>
                </a:solidFill>
              </a:rPr>
              <a:t> can scale playlist creation.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The prototype shows songs can be grouped by sound similarity.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However: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we would strongly recommend an approach that combines not only analysis of audio features but also user behaviour data.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highlight>
                <a:srgbClr val="FF0000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highlight>
                <a:srgbClr val="FF0000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  <a:highlight>
                  <a:srgbClr val="FF0000"/>
                </a:highlight>
              </a:rPr>
              <a:t>Questions</a:t>
            </a:r>
            <a:endParaRPr sz="2200" b="1"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Pros and cons of spotify’s audio features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553400" y="1117100"/>
          <a:ext cx="8236700" cy="3808850"/>
        </p:xfrm>
        <a:graphic>
          <a:graphicData uri="http://schemas.openxmlformats.org/drawingml/2006/table">
            <a:tbl>
              <a:tblPr>
                <a:noFill/>
                <a:tableStyleId>{9C13D1FC-91C9-4D58-870E-A9C7D062C1AE}</a:tableStyleId>
              </a:tblPr>
              <a:tblGrid>
                <a:gridCol w="411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Pros of using Spotify audio features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: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Quantifiable and consistent across songs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Easy to cluster/group songs computationally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Covers measurable aspects of mood, tempo, energy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Cons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: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Ignores lyrics, themes, and cultural context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Can miss subtle human perceptions of similarity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Some songs may appear similar in data but sound different to human listeners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Next Steps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086350"/>
            <a:ext cx="8520600" cy="3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10">
                <a:solidFill>
                  <a:schemeClr val="dk1"/>
                </a:solidFill>
              </a:rPr>
              <a:t>Our prototype groups songs </a:t>
            </a:r>
            <a:r>
              <a:rPr lang="en" sz="6610" b="1">
                <a:solidFill>
                  <a:schemeClr val="dk1"/>
                </a:solidFill>
              </a:rPr>
              <a:t>only using audio features.</a:t>
            </a:r>
            <a:endParaRPr sz="6610"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610">
                <a:solidFill>
                  <a:schemeClr val="dk1"/>
                </a:solidFill>
              </a:rPr>
              <a:t>However, this does not fully reflect </a:t>
            </a:r>
            <a:r>
              <a:rPr lang="en" sz="6610" b="1">
                <a:solidFill>
                  <a:schemeClr val="dk1"/>
                </a:solidFill>
              </a:rPr>
              <a:t>how listeners perceive song similarity</a:t>
            </a:r>
            <a:r>
              <a:rPr lang="en" sz="6610">
                <a:solidFill>
                  <a:schemeClr val="dk1"/>
                </a:solidFill>
              </a:rPr>
              <a:t>.</a:t>
            </a:r>
            <a:endParaRPr sz="661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661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610">
                <a:solidFill>
                  <a:schemeClr val="dk1"/>
                </a:solidFill>
              </a:rPr>
              <a:t>To improve playlist relevance, we could add:</a:t>
            </a:r>
            <a:endParaRPr sz="6610">
              <a:solidFill>
                <a:schemeClr val="dk1"/>
              </a:solidFill>
            </a:endParaRPr>
          </a:p>
          <a:p>
            <a:pPr marL="457200" lvl="0" indent="-333534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610">
                <a:solidFill>
                  <a:schemeClr val="dk1"/>
                </a:solidFill>
              </a:rPr>
              <a:t>user behavior data (likes, skips, listening history)</a:t>
            </a:r>
            <a:endParaRPr sz="6610">
              <a:solidFill>
                <a:schemeClr val="dk1"/>
              </a:solidFill>
            </a:endParaRPr>
          </a:p>
          <a:p>
            <a:pPr marL="457200" lvl="0" indent="-33353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610">
                <a:solidFill>
                  <a:schemeClr val="dk1"/>
                </a:solidFill>
              </a:rPr>
              <a:t>lyrics and semantic information (song themes, mood)</a:t>
            </a:r>
            <a:endParaRPr sz="6610">
              <a:solidFill>
                <a:schemeClr val="dk1"/>
              </a:solidFill>
            </a:endParaRPr>
          </a:p>
          <a:p>
            <a:pPr marL="457200" lvl="0" indent="-33353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610">
                <a:solidFill>
                  <a:schemeClr val="dk1"/>
                </a:solidFill>
              </a:rPr>
              <a:t>contextual metadata (genre, artist relationships, release year)</a:t>
            </a:r>
            <a:endParaRPr sz="6610">
              <a:solidFill>
                <a:schemeClr val="dk1"/>
              </a:solidFill>
            </a:endParaRPr>
          </a:p>
          <a:p>
            <a:pPr marL="457200" lvl="0" indent="-33353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610">
                <a:solidFill>
                  <a:schemeClr val="dk1"/>
                </a:solidFill>
              </a:rPr>
              <a:t>human curation insights (expert knowledge about music styles)</a:t>
            </a:r>
            <a:endParaRPr sz="6610">
              <a:solidFill>
                <a:schemeClr val="dk1"/>
              </a:solidFill>
            </a:endParaRPr>
          </a:p>
          <a:p>
            <a:pPr marL="457200" lvl="0" indent="-333534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610">
                <a:solidFill>
                  <a:schemeClr val="dk1"/>
                </a:solidFill>
              </a:rPr>
              <a:t>additional machine learning methods (Hierarchical clustering, DBSCAN, Recommendation systems)</a:t>
            </a:r>
            <a:endParaRPr sz="661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723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4723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4723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2000"/>
              </a:spcBef>
              <a:spcAft>
                <a:spcPts val="0"/>
              </a:spcAft>
              <a:buNone/>
            </a:pPr>
            <a:endParaRPr sz="261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On-screen Show (16:9)</PresentationFormat>
  <Paragraphs>96</Paragraphs>
  <Slides>11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Prototype for Automated Playlist Generation</vt:lpstr>
      <vt:lpstr>Challenge We Faced &amp; Goal We Pursue</vt:lpstr>
      <vt:lpstr>How We Built the Prototype</vt:lpstr>
      <vt:lpstr>Building the playlist prototype based on our algorithms</vt:lpstr>
      <vt:lpstr>Refining our music model: 9 vs 50 playlists</vt:lpstr>
      <vt:lpstr>Are Spotify’s audio features capable of identifying “similar songs” as defined by humanly detectable criteria?</vt:lpstr>
      <vt:lpstr>Is K-Means a good method for creating playlists?</vt:lpstr>
      <vt:lpstr>Conclusion</vt:lpstr>
      <vt:lpstr>PowerPoint Presentation</vt:lpstr>
      <vt:lpstr>Pros and cons of spotify’s audio features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Agyei, Kwabena</cp:lastModifiedBy>
  <cp:revision>2</cp:revision>
  <dcterms:modified xsi:type="dcterms:W3CDTF">2026-03-10T14:22:51Z</dcterms:modified>
</cp:coreProperties>
</file>